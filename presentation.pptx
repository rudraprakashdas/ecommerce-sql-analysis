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6845b58-da13-4ad1-88af-3af625641634}">
          <p14:sldIdLst>
            <p14:sldId id="256"/>
            <p14:sldId id="257"/>
          </p14:sldIdLst>
        </p14:section>
        <p14:section name="Analysis" id="{3629174d-0d21-af92-765a-63091e1ac4f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0ce1a4e3-7a34-b4cd-e4df-931b0f65df2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E-Commerce SQL Analysis</a:t>
            </a:r>
            <a:endParaRPr lang="en-US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FD1C7"/>
                </a:solidFill>
              </a:rPr>
              <a:t>Business questions answered with SQL</a:t>
            </a:r>
            <a:endParaRPr lang="en-US" sz="2400" dirty="0"/>
          </a:p>
        </p:txBody>
      </p:sp>
      <p:sp>
        <p:nvSpPr>
          <p:cNvPr id="4" name="Author"/>
          <p:cNvSpPr txBox="1"/>
          <p:nvPr/>
        </p:nvSpPr>
        <p:spPr>
          <a:xfrm>
            <a:off x="73152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By Rudra Prakash Das</a:t>
            </a:r>
            <a:endParaRPr lang="en-US" sz="2000" dirty="0"/>
          </a:p>
        </p:txBody>
      </p:sp>
      <p:sp>
        <p:nvSpPr>
          <p:cNvPr id="5" name="StatCard0"/>
          <p:cNvSpPr/>
          <p:nvPr/>
        </p:nvSpPr>
        <p:spPr>
          <a:xfrm>
            <a:off x="731520" y="4754880"/>
            <a:ext cx="29260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846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5577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Business questions</a:t>
            </a:r>
            <a:endParaRPr lang="en-US" sz="1600" dirty="0"/>
          </a:p>
        </p:txBody>
      </p:sp>
      <p:sp>
        <p:nvSpPr>
          <p:cNvPr id="8" name="StatCard1"/>
          <p:cNvSpPr/>
          <p:nvPr/>
        </p:nvSpPr>
        <p:spPr>
          <a:xfrm>
            <a:off x="4023360" y="4754880"/>
            <a:ext cx="29260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4846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5577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Analysis areas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We Analyse</a:t>
            </a:r>
            <a:endParaRPr lang="en-US" sz="3600" dirty="0"/>
          </a:p>
        </p:txBody>
      </p:sp>
      <p:sp>
        <p:nvSpPr>
          <p:cNvPr id="3" name="AgendaCard0"/>
          <p:cNvSpPr/>
          <p:nvPr/>
        </p:nvSpPr>
        <p:spPr>
          <a:xfrm>
            <a:off x="731520" y="16459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AgendaBadge0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Sales Overview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6 questions</a:t>
            </a:r>
            <a:endParaRPr lang="en-US" sz="1400" dirty="0"/>
          </a:p>
        </p:txBody>
      </p:sp>
      <p:sp>
        <p:nvSpPr>
          <p:cNvPr id="8" name="AgendaCard1"/>
          <p:cNvSpPr/>
          <p:nvPr/>
        </p:nvSpPr>
        <p:spPr>
          <a:xfrm>
            <a:off x="4480560" y="16459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AgendaBadge1"/>
          <p:cNvSpPr/>
          <p:nvPr/>
        </p:nvSpPr>
        <p:spPr>
          <a:xfrm>
            <a:off x="470916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 Performance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7 questions</a:t>
            </a:r>
            <a:endParaRPr lang="en-US" sz="1400" dirty="0"/>
          </a:p>
        </p:txBody>
      </p:sp>
      <p:sp>
        <p:nvSpPr>
          <p:cNvPr id="13" name="AgendaCard2"/>
          <p:cNvSpPr/>
          <p:nvPr/>
        </p:nvSpPr>
        <p:spPr>
          <a:xfrm>
            <a:off x="8229600" y="16459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AgendaBadge2"/>
          <p:cNvSpPr/>
          <p:nvPr/>
        </p:nvSpPr>
        <p:spPr>
          <a:xfrm>
            <a:off x="845820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Category Performance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5 questions</a:t>
            </a:r>
            <a:endParaRPr lang="en-US" sz="1400" dirty="0"/>
          </a:p>
        </p:txBody>
      </p:sp>
      <p:sp>
        <p:nvSpPr>
          <p:cNvPr id="18" name="AgendaCard3"/>
          <p:cNvSpPr/>
          <p:nvPr/>
        </p:nvSpPr>
        <p:spPr>
          <a:xfrm>
            <a:off x="731520" y="34747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AgendaBadge3"/>
          <p:cNvSpPr/>
          <p:nvPr/>
        </p:nvSpPr>
        <p:spPr>
          <a:xfrm>
            <a:off x="96012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 Value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7 questions</a:t>
            </a:r>
            <a:endParaRPr lang="en-US" sz="1400" dirty="0"/>
          </a:p>
        </p:txBody>
      </p:sp>
      <p:sp>
        <p:nvSpPr>
          <p:cNvPr id="23" name="AgendaCard4"/>
          <p:cNvSpPr/>
          <p:nvPr/>
        </p:nvSpPr>
        <p:spPr>
          <a:xfrm>
            <a:off x="4480560" y="34747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4" name="AgendaBadge4"/>
          <p:cNvSpPr/>
          <p:nvPr/>
        </p:nvSpPr>
        <p:spPr>
          <a:xfrm>
            <a:off x="470916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 Behavior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5 questions</a:t>
            </a:r>
            <a:endParaRPr lang="en-US" sz="1400" dirty="0"/>
          </a:p>
        </p:txBody>
      </p:sp>
      <p:sp>
        <p:nvSpPr>
          <p:cNvPr id="28" name="AgendaCard5"/>
          <p:cNvSpPr/>
          <p:nvPr/>
        </p:nvSpPr>
        <p:spPr>
          <a:xfrm>
            <a:off x="8229600" y="34747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9" name="AgendaBadge5"/>
          <p:cNvSpPr/>
          <p:nvPr/>
        </p:nvSpPr>
        <p:spPr>
          <a:xfrm>
            <a:off x="845820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582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Revenue Trends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6 questions</a:t>
            </a:r>
            <a:endParaRPr lang="en-US" sz="1400" dirty="0"/>
          </a:p>
        </p:txBody>
      </p:sp>
      <p:sp>
        <p:nvSpPr>
          <p:cNvPr id="33" name="AgendaCard6"/>
          <p:cNvSpPr/>
          <p:nvPr/>
        </p:nvSpPr>
        <p:spPr>
          <a:xfrm>
            <a:off x="731520" y="53035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34" name="AgendaBadge6"/>
          <p:cNvSpPr/>
          <p:nvPr/>
        </p:nvSpPr>
        <p:spPr>
          <a:xfrm>
            <a:off x="960120" y="5577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0120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691640" y="5532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Geography &amp; Orders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6309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6 questions</a:t>
            </a:r>
            <a:endParaRPr lang="en-US" sz="1400" dirty="0"/>
          </a:p>
        </p:txBody>
      </p:sp>
      <p:sp>
        <p:nvSpPr>
          <p:cNvPr id="38" name="AgendaCard7"/>
          <p:cNvSpPr/>
          <p:nvPr/>
        </p:nvSpPr>
        <p:spPr>
          <a:xfrm>
            <a:off x="4480560" y="53035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39" name="AgendaBadge7"/>
          <p:cNvSpPr/>
          <p:nvPr/>
        </p:nvSpPr>
        <p:spPr>
          <a:xfrm>
            <a:off x="4709160" y="5577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09160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5440680" y="5532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Order Gap Analysis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4709160" y="6309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4 questions</a:t>
            </a:r>
            <a:endParaRPr lang="en-US" sz="1400" dirty="0"/>
          </a:p>
        </p:txBody>
      </p:sp>
      <p:sp>
        <p:nvSpPr>
          <p:cNvPr id="43" name="AgendaCard8"/>
          <p:cNvSpPr/>
          <p:nvPr/>
        </p:nvSpPr>
        <p:spPr>
          <a:xfrm>
            <a:off x="8229600" y="530352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4" name="AgendaBadge8"/>
          <p:cNvSpPr/>
          <p:nvPr/>
        </p:nvSpPr>
        <p:spPr>
          <a:xfrm>
            <a:off x="8458200" y="5577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458200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9189720" y="5532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Retention &amp; Churn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458200" y="6309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6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Sales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Headline KPIs of the business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107899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11704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170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07899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our total revenue so far?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188366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197510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1975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88366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many total orders have we received?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268833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277977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68833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many total customers do we have?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349300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358444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49300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many total products do we sell?</a:t>
            </a:r>
            <a:endParaRPr lang="en-US" sz="1500" dirty="0"/>
          </a:p>
        </p:txBody>
      </p:sp>
      <p:sp>
        <p:nvSpPr>
          <p:cNvPr id="22" name="QCard4"/>
          <p:cNvSpPr/>
          <p:nvPr/>
        </p:nvSpPr>
        <p:spPr>
          <a:xfrm>
            <a:off x="4937760" y="429768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3" name="QBadge4"/>
          <p:cNvSpPr/>
          <p:nvPr/>
        </p:nvSpPr>
        <p:spPr>
          <a:xfrm>
            <a:off x="5120640" y="438912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0" y="4389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29768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the average amount a customer spends per order?</a:t>
            </a:r>
            <a:endParaRPr lang="en-US" sz="1500" dirty="0"/>
          </a:p>
        </p:txBody>
      </p:sp>
      <p:sp>
        <p:nvSpPr>
          <p:cNvPr id="26" name="QCard5"/>
          <p:cNvSpPr/>
          <p:nvPr/>
        </p:nvSpPr>
        <p:spPr>
          <a:xfrm>
            <a:off x="4937760" y="510235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7" name="QBadge5"/>
          <p:cNvSpPr/>
          <p:nvPr/>
        </p:nvSpPr>
        <p:spPr>
          <a:xfrm>
            <a:off x="5120640" y="519379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20640" y="5193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510235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average, how many products are bought per order?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Product Performance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Best, worst and most valuable products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67665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76809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768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67665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are the top 5 best-selling products?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148132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157276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48132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are the top 10 best-selling products?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228600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237744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28600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product generates the highest revenue?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309067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318211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09067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product generates the lowest revenue?</a:t>
            </a:r>
            <a:endParaRPr lang="en-US" sz="1500" dirty="0"/>
          </a:p>
        </p:txBody>
      </p:sp>
      <p:sp>
        <p:nvSpPr>
          <p:cNvPr id="22" name="QCard4"/>
          <p:cNvSpPr/>
          <p:nvPr/>
        </p:nvSpPr>
        <p:spPr>
          <a:xfrm>
            <a:off x="4937760" y="389534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3" name="QBadge4"/>
          <p:cNvSpPr/>
          <p:nvPr/>
        </p:nvSpPr>
        <p:spPr>
          <a:xfrm>
            <a:off x="5120640" y="398678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0" y="3986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389534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the top-selling product in each category?</a:t>
            </a:r>
            <a:endParaRPr lang="en-US" sz="1500" dirty="0"/>
          </a:p>
        </p:txBody>
      </p:sp>
      <p:sp>
        <p:nvSpPr>
          <p:cNvPr id="26" name="QCard5"/>
          <p:cNvSpPr/>
          <p:nvPr/>
        </p:nvSpPr>
        <p:spPr>
          <a:xfrm>
            <a:off x="4937760" y="470001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7" name="QBadge5"/>
          <p:cNvSpPr/>
          <p:nvPr/>
        </p:nvSpPr>
        <p:spPr>
          <a:xfrm>
            <a:off x="5120640" y="479145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20640" y="4791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470001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percentage does each product contribute to total revenue?</a:t>
            </a:r>
            <a:endParaRPr lang="en-US" sz="1500" dirty="0"/>
          </a:p>
        </p:txBody>
      </p:sp>
      <p:sp>
        <p:nvSpPr>
          <p:cNvPr id="30" name="QCard6"/>
          <p:cNvSpPr/>
          <p:nvPr/>
        </p:nvSpPr>
        <p:spPr>
          <a:xfrm>
            <a:off x="4937760" y="550468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31" name="QBadge6"/>
          <p:cNvSpPr/>
          <p:nvPr/>
        </p:nvSpPr>
        <p:spPr>
          <a:xfrm>
            <a:off x="5120640" y="559612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120640" y="55961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550468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the most expensive product sold?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Category Performance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Which categories drive the business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148132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157276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48132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category is generating the most revenue?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228600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237744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28600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the best-selling category?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309067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318211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09067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the worst-selling category?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389534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398678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986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89534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product category is growing the fastest?</a:t>
            </a:r>
            <a:endParaRPr lang="en-US" sz="1500" dirty="0"/>
          </a:p>
        </p:txBody>
      </p:sp>
      <p:sp>
        <p:nvSpPr>
          <p:cNvPr id="22" name="QCard4"/>
          <p:cNvSpPr/>
          <p:nvPr/>
        </p:nvSpPr>
        <p:spPr>
          <a:xfrm>
            <a:off x="4937760" y="470001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3" name="QBadge4"/>
          <p:cNvSpPr/>
          <p:nvPr/>
        </p:nvSpPr>
        <p:spPr>
          <a:xfrm>
            <a:off x="5120640" y="479145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0" y="4791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Q52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70001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percentage does each category contribute to total revenue?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Customer Value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Ranking and valuing our customers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67665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76809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768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67665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Who are our top 5 most valuable customers?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148132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157276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48132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Who are the top 3 customers by revenue?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228600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237744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28600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Who are the top 10 customers by revenue?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309067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318211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Q19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09067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customers have the highest average order value?</a:t>
            </a:r>
            <a:endParaRPr lang="en-US" sz="1500" dirty="0"/>
          </a:p>
        </p:txBody>
      </p:sp>
      <p:sp>
        <p:nvSpPr>
          <p:cNvPr id="22" name="QCard4"/>
          <p:cNvSpPr/>
          <p:nvPr/>
        </p:nvSpPr>
        <p:spPr>
          <a:xfrm>
            <a:off x="4937760" y="389534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3" name="QBadge4"/>
          <p:cNvSpPr/>
          <p:nvPr/>
        </p:nvSpPr>
        <p:spPr>
          <a:xfrm>
            <a:off x="5120640" y="398678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0" y="3986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389534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are customers ranked based on revenue?</a:t>
            </a:r>
            <a:endParaRPr lang="en-US" sz="1500" dirty="0"/>
          </a:p>
        </p:txBody>
      </p:sp>
      <p:sp>
        <p:nvSpPr>
          <p:cNvPr id="26" name="QCard5"/>
          <p:cNvSpPr/>
          <p:nvPr/>
        </p:nvSpPr>
        <p:spPr>
          <a:xfrm>
            <a:off x="4937760" y="470001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7" name="QBadge5"/>
          <p:cNvSpPr/>
          <p:nvPr/>
        </p:nvSpPr>
        <p:spPr>
          <a:xfrm>
            <a:off x="5120640" y="479145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20640" y="4791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470001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was each customer's highest-value order?</a:t>
            </a:r>
            <a:endParaRPr lang="en-US" sz="1500" dirty="0"/>
          </a:p>
        </p:txBody>
      </p:sp>
      <p:sp>
        <p:nvSpPr>
          <p:cNvPr id="30" name="QCard6"/>
          <p:cNvSpPr/>
          <p:nvPr/>
        </p:nvSpPr>
        <p:spPr>
          <a:xfrm>
            <a:off x="4937760" y="550468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31" name="QBadge6"/>
          <p:cNvSpPr/>
          <p:nvPr/>
        </p:nvSpPr>
        <p:spPr>
          <a:xfrm>
            <a:off x="5120640" y="559612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120640" y="55961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550468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each customer's lifetime value (LTV)?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Customer Behavior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Who buys, who doesn't, and who left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148132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157276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48132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customers purchase repeatedly?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228600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237744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28600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customers have never placed an order?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309067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318211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09067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customers have been inactive in the last 90 days?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389534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398678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986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89534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customers purchase from more than one category?</a:t>
            </a:r>
            <a:endParaRPr lang="en-US" sz="1500" dirty="0"/>
          </a:p>
        </p:txBody>
      </p:sp>
      <p:sp>
        <p:nvSpPr>
          <p:cNvPr id="22" name="QCard4"/>
          <p:cNvSpPr/>
          <p:nvPr/>
        </p:nvSpPr>
        <p:spPr>
          <a:xfrm>
            <a:off x="4937760" y="470001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3" name="QBadge4"/>
          <p:cNvSpPr/>
          <p:nvPr/>
        </p:nvSpPr>
        <p:spPr>
          <a:xfrm>
            <a:off x="5120640" y="479145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0" y="4791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70001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much revenue comes from male vs female customers?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Revenue Trends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Performance over time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107899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11704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170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Q9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07899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has our revenue trended month by month?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188366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197510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1975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Q29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88366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the month-over-month revenue growth?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268833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277977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68833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has our revenue accumulated over time (running total)?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349300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358444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49300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the daily sales trend?</a:t>
            </a:r>
            <a:endParaRPr lang="en-US" sz="1500" dirty="0"/>
          </a:p>
        </p:txBody>
      </p:sp>
      <p:sp>
        <p:nvSpPr>
          <p:cNvPr id="22" name="QCard4"/>
          <p:cNvSpPr/>
          <p:nvPr/>
        </p:nvSpPr>
        <p:spPr>
          <a:xfrm>
            <a:off x="4937760" y="429768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3" name="QBadge4"/>
          <p:cNvSpPr/>
          <p:nvPr/>
        </p:nvSpPr>
        <p:spPr>
          <a:xfrm>
            <a:off x="5120640" y="438912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0" y="4389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Q50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29768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month had the highest revenue?</a:t>
            </a:r>
            <a:endParaRPr lang="en-US" sz="1500" dirty="0"/>
          </a:p>
        </p:txBody>
      </p:sp>
      <p:sp>
        <p:nvSpPr>
          <p:cNvPr id="26" name="QCard5"/>
          <p:cNvSpPr/>
          <p:nvPr/>
        </p:nvSpPr>
        <p:spPr>
          <a:xfrm>
            <a:off x="4937760" y="510235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7" name="QBadge5"/>
          <p:cNvSpPr/>
          <p:nvPr/>
        </p:nvSpPr>
        <p:spPr>
          <a:xfrm>
            <a:off x="5120640" y="519379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20640" y="5193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Q51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510235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many new customers were acquired each month?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Geography &amp;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Cities, order value and fulfilment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107899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11704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170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07899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city is generating the most sales?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188366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197510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1975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88366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are the top 3 cities by revenue?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268833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277977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68833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orders are worth more than 10,000?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349300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358444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49300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two products are most frequently purchased together?</a:t>
            </a:r>
            <a:endParaRPr lang="en-US" sz="1500" dirty="0"/>
          </a:p>
        </p:txBody>
      </p:sp>
      <p:sp>
        <p:nvSpPr>
          <p:cNvPr id="22" name="QCard4"/>
          <p:cNvSpPr/>
          <p:nvPr/>
        </p:nvSpPr>
        <p:spPr>
          <a:xfrm>
            <a:off x="4937760" y="429768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3" name="QBadge4"/>
          <p:cNvSpPr/>
          <p:nvPr/>
        </p:nvSpPr>
        <p:spPr>
          <a:xfrm>
            <a:off x="5120640" y="438912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0" y="4389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29768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percentage of orders get cancelled?</a:t>
            </a:r>
            <a:endParaRPr lang="en-US" sz="1500" dirty="0"/>
          </a:p>
        </p:txBody>
      </p:sp>
      <p:sp>
        <p:nvSpPr>
          <p:cNvPr id="26" name="QCard5"/>
          <p:cNvSpPr/>
          <p:nvPr/>
        </p:nvSpPr>
        <p:spPr>
          <a:xfrm>
            <a:off x="4937760" y="510235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7" name="QBadge5"/>
          <p:cNvSpPr/>
          <p:nvPr/>
        </p:nvSpPr>
        <p:spPr>
          <a:xfrm>
            <a:off x="5120640" y="519379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20640" y="5193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510235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many orders were delivered vs cancelled?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Order Gap Analysis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Customer order timing with window functions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4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188366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197510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975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88366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When was each customer's previous order placed?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268833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277977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68833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When was each customer's next order placed, if any?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349300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358444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49300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many days are there between a customer's consecutive orders?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429768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438912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4389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429768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average, how many days pass between a customer's orders?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6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468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Retention &amp; Churn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D1C7"/>
                </a:solidFill>
              </a:rPr>
              <a:t>Loyalty, repeat buying and risk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 questions</a:t>
            </a:r>
            <a:endParaRPr lang="en-US" sz="1400" dirty="0"/>
          </a:p>
        </p:txBody>
      </p:sp>
      <p:sp>
        <p:nvSpPr>
          <p:cNvPr id="6" name="QCard0"/>
          <p:cNvSpPr/>
          <p:nvPr/>
        </p:nvSpPr>
        <p:spPr>
          <a:xfrm>
            <a:off x="4937760" y="107899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7" name="QBadge0"/>
          <p:cNvSpPr/>
          <p:nvPr/>
        </p:nvSpPr>
        <p:spPr>
          <a:xfrm>
            <a:off x="5120640" y="11704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170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07899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percentage of customers have repeat purchases?</a:t>
            </a:r>
            <a:endParaRPr lang="en-US" sz="1500" dirty="0"/>
          </a:p>
        </p:txBody>
      </p:sp>
      <p:sp>
        <p:nvSpPr>
          <p:cNvPr id="10" name="QCard1"/>
          <p:cNvSpPr/>
          <p:nvPr/>
        </p:nvSpPr>
        <p:spPr>
          <a:xfrm>
            <a:off x="4937760" y="1883664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1" name="QBadge1"/>
          <p:cNvSpPr/>
          <p:nvPr/>
        </p:nvSpPr>
        <p:spPr>
          <a:xfrm>
            <a:off x="5120640" y="197510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1975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88366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many customers are new vs returning?</a:t>
            </a:r>
            <a:endParaRPr lang="en-US" sz="1500" dirty="0"/>
          </a:p>
        </p:txBody>
      </p:sp>
      <p:sp>
        <p:nvSpPr>
          <p:cNvPr id="14" name="QCard2"/>
          <p:cNvSpPr/>
          <p:nvPr/>
        </p:nvSpPr>
        <p:spPr>
          <a:xfrm>
            <a:off x="4937760" y="2688336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5" name="QBadge2"/>
          <p:cNvSpPr/>
          <p:nvPr/>
        </p:nvSpPr>
        <p:spPr>
          <a:xfrm>
            <a:off x="5120640" y="277977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68833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many customers were active each month (retention)?</a:t>
            </a:r>
            <a:endParaRPr lang="en-US" sz="1500" dirty="0"/>
          </a:p>
        </p:txBody>
      </p:sp>
      <p:sp>
        <p:nvSpPr>
          <p:cNvPr id="18" name="QCard3"/>
          <p:cNvSpPr/>
          <p:nvPr/>
        </p:nvSpPr>
        <p:spPr>
          <a:xfrm>
            <a:off x="4937760" y="3493008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19" name="QBadge3"/>
          <p:cNvSpPr/>
          <p:nvPr/>
        </p:nvSpPr>
        <p:spPr>
          <a:xfrm>
            <a:off x="5120640" y="358444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Q39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49300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customers are at risk of churn?</a:t>
            </a:r>
            <a:endParaRPr lang="en-US" sz="1500" dirty="0"/>
          </a:p>
        </p:txBody>
      </p:sp>
      <p:sp>
        <p:nvSpPr>
          <p:cNvPr id="22" name="QCard4"/>
          <p:cNvSpPr/>
          <p:nvPr/>
        </p:nvSpPr>
        <p:spPr>
          <a:xfrm>
            <a:off x="4937760" y="4297680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3" name="QBadge4"/>
          <p:cNvSpPr/>
          <p:nvPr/>
        </p:nvSpPr>
        <p:spPr>
          <a:xfrm>
            <a:off x="5120640" y="438912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0" y="4389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29768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our customer churn rate?</a:t>
            </a:r>
            <a:endParaRPr lang="en-US" sz="1500" dirty="0"/>
          </a:p>
        </p:txBody>
      </p:sp>
      <p:sp>
        <p:nvSpPr>
          <p:cNvPr id="26" name="QCard5"/>
          <p:cNvSpPr/>
          <p:nvPr/>
        </p:nvSpPr>
        <p:spPr>
          <a:xfrm>
            <a:off x="4937760" y="5102352"/>
            <a:ext cx="676656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/>
        </p:spPr>
      </p:sp>
      <p:sp>
        <p:nvSpPr>
          <p:cNvPr id="27" name="QBadge5"/>
          <p:cNvSpPr/>
          <p:nvPr/>
        </p:nvSpPr>
        <p:spPr>
          <a:xfrm>
            <a:off x="5120640" y="519379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20640" y="5193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Q40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510235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do customers look based on RFM analysis?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D1C7"/>
                </a:solidFill>
              </a:rPr>
              <a:t>Queries and results available in the GitHub repository</a:t>
            </a:r>
            <a:endParaRPr lang="en-US" sz="2200" dirty="0"/>
          </a:p>
        </p:txBody>
      </p:sp>
      <p:sp>
        <p:nvSpPr>
          <p:cNvPr id="4" name="Author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Rudra Prakash Das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QL Analytics">
  <a:themeElements>
    <a:clrScheme name="SQL Analytics">
      <a:dk1>
        <a:srgbClr val="10252B"/>
      </a:dk1>
      <a:lt1>
        <a:srgbClr val="FFFFFF"/>
      </a:lt1>
      <a:dk2>
        <a:srgbClr val="1B3A42"/>
      </a:dk2>
      <a:lt2>
        <a:srgbClr val="EAF4F3"/>
      </a:lt2>
      <a:accent1>
        <a:srgbClr val="00A896"/>
      </a:accent1>
      <a:accent2>
        <a:srgbClr val="F5A623"/>
      </a:accent2>
      <a:accent3>
        <a:srgbClr val="3D8B9A"/>
      </a:accent3>
      <a:accent4>
        <a:srgbClr val="7FD1C7"/>
      </a:accent4>
      <a:accent5>
        <a:srgbClr val="C8553D"/>
      </a:accent5>
      <a:accent6>
        <a:srgbClr val="6B7F86"/>
      </a:accent6>
      <a:hlink>
        <a:srgbClr val="00A896"/>
      </a:hlink>
      <a:folHlink>
        <a:srgbClr val="6B7F86"/>
      </a:folHlink>
    </a:clrScheme>
    <a:fontScheme name="SQL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SQL Analysis</dc:title>
  <dc:subject>PptxGenJS Presentation</dc:subject>
  <dc:creator>Rudra Prakash Das</dc:creator>
  <cp:lastModifiedBy>Rudra Prakash Das</cp:lastModifiedBy>
  <cp:revision>1</cp:revision>
  <dcterms:created xsi:type="dcterms:W3CDTF">2026-10-19T20:02:57Z</dcterms:created>
  <dcterms:modified xsi:type="dcterms:W3CDTF">2026-10-19T20:02:57Z</dcterms:modified>
</cp:coreProperties>
</file>